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0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10698480" cy="47548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4B8A6"/>
                </a:solidFill>
                <a:latin typeface="Segoe UI"/>
              </a:defRPr>
            </a:pPr>
            <a:r>
              <a:t>NEXT-GENERATION SMART CITY GOVERNANCE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9601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Segoe UI"/>
              </a:defRPr>
            </a:pPr>
            <a:r>
              <a:t>CivicNexus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1752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94A3B8"/>
                </a:solidFill>
                <a:latin typeface="Segoe UI"/>
              </a:defRPr>
            </a:pPr>
            <a:r>
              <a:t>Connecting Citizens · Improving Communities · Transforming Municipal Intelligence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4023360"/>
            <a:ext cx="1920240" cy="457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023360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FFFFFF"/>
                </a:solidFill>
                <a:latin typeface="Segoe UI"/>
              </a:defRPr>
            </a:pPr>
            <a:r>
              <a:t>15 Flagship Municipal Services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4023360"/>
            <a:ext cx="1920240" cy="457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4023360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FFFFFF"/>
                </a:solidFill>
                <a:latin typeface="Segoe UI"/>
              </a:defRPr>
            </a:pPr>
            <a:r>
              <a:t>21 Verified Civic Solutions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4023360"/>
            <a:ext cx="1920240" cy="457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4023360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FFFFFF"/>
                </a:solidFill>
                <a:latin typeface="Segoe UI"/>
              </a:defRPr>
            </a:pPr>
            <a:r>
              <a:t>Tamil Voice 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023360"/>
            <a:ext cx="1920240" cy="457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4023360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FFFFFF"/>
                </a:solidFill>
                <a:latin typeface="Segoe UI"/>
              </a:defRPr>
            </a:pPr>
            <a:r>
              <a:t>RepairProof™ Auditing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4023360"/>
            <a:ext cx="1920240" cy="457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4023360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FFFFFF"/>
                </a:solidFill>
                <a:latin typeface="Segoe UI"/>
              </a:defRPr>
            </a:pPr>
            <a:r>
              <a:t>Real-Time Telemetry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93776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Comprehensive Project Architecture, Role-Based Access Control &amp; System Walkthrough |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Segoe UI"/>
              </a:defRPr>
            </a:pPr>
            <a:r>
              <a:t>CIVICNEXUS AI · MUNICIPAL INTELLIGENCE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The Broken Civic Feedback Loop: Municipal Governance Gaps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⚠️  1. Duplicate Grievance Overload</a:t>
            </a:r>
          </a:p>
          <a:p>
            <a:pPr>
              <a:spcBef>
                <a:spcPts val="1200"/>
              </a:spcBef>
              <a:defRPr sz="1050">
                <a:solidFill>
                  <a:srgbClr val="475569"/>
                </a:solidFill>
                <a:latin typeface="Segoe UI"/>
              </a:defRPr>
            </a:pPr>
            <a:r>
              <a:t>When a major pothole or pipe burst occurs, hundreds of citizens submit identical complaints. Municipal staff are overwhelmed filtering duplicates manually, causing critical SLA breaches.</a:t>
            </a:r>
          </a:p>
          <a:p>
            <a:pPr>
              <a:spcBef>
                <a:spcPts val="1600"/>
              </a:spcBef>
              <a:defRPr sz="950" b="1">
                <a:solidFill>
                  <a:srgbClr val="F43F5E"/>
                </a:solidFill>
                <a:latin typeface="Segoe UI"/>
              </a:defRPr>
            </a:pPr>
            <a:r>
              <a:t>Impact: Up to 65% of filed civic reports are redundant duplicates.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24688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82880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🚫  2. Ghost Resolutions &amp; Fake Proof</a:t>
            </a:r>
          </a:p>
          <a:p>
            <a:pPr>
              <a:spcBef>
                <a:spcPts val="1200"/>
              </a:spcBef>
              <a:defRPr sz="1050">
                <a:solidFill>
                  <a:srgbClr val="475569"/>
                </a:solidFill>
                <a:latin typeface="Segoe UI"/>
              </a:defRPr>
            </a:pPr>
            <a:r>
              <a:t>Contractors upload irrelevant, blurred, or reused photos to mark work orders as 'Closed'. Citizens are left stranded with no mechanism to dispute fraudulent claims.</a:t>
            </a:r>
          </a:p>
          <a:p>
            <a:pPr>
              <a:spcBef>
                <a:spcPts val="1600"/>
              </a:spcBef>
              <a:defRPr sz="950" b="1">
                <a:solidFill>
                  <a:srgbClr val="F43F5E"/>
                </a:solidFill>
                <a:latin typeface="Segoe UI"/>
              </a:defRPr>
            </a:pPr>
            <a:r>
              <a:t>Impact: 42% of citizens dispute traditional ticket closure claims.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645920"/>
            <a:ext cx="24688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82880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🗣️  3. Language &amp; Accessibility Barriers</a:t>
            </a:r>
          </a:p>
          <a:p>
            <a:pPr>
              <a:spcBef>
                <a:spcPts val="1200"/>
              </a:spcBef>
              <a:defRPr sz="1050">
                <a:solidFill>
                  <a:srgbClr val="475569"/>
                </a:solidFill>
                <a:latin typeface="Segoe UI"/>
              </a:defRPr>
            </a:pPr>
            <a:r>
              <a:t>Existing municipal portals are text-heavy, form-driven, and strictly in English. Non-English speakers, elderly citizens, and illiterate residents are excluded from civic reporting.</a:t>
            </a:r>
          </a:p>
          <a:p>
            <a:pPr>
              <a:spcBef>
                <a:spcPts val="1600"/>
              </a:spcBef>
              <a:defRPr sz="950" b="1">
                <a:solidFill>
                  <a:srgbClr val="F43F5E"/>
                </a:solidFill>
                <a:latin typeface="Segoe UI"/>
              </a:defRPr>
            </a:pPr>
            <a:r>
              <a:t>Impact: Over 70% of local residents prefer vernacular voice interaction.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645920"/>
            <a:ext cx="24688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82880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⚡  4. Disconnected Telemetry &amp; Silos</a:t>
            </a:r>
          </a:p>
          <a:p>
            <a:pPr>
              <a:spcBef>
                <a:spcPts val="1200"/>
              </a:spcBef>
              <a:defRPr sz="1050">
                <a:solidFill>
                  <a:srgbClr val="475569"/>
                </a:solidFill>
                <a:latin typeface="Segoe UI"/>
              </a:defRPr>
            </a:pPr>
            <a:r>
              <a:t>Stormwater pumps, electrical substations, and water tankers operate without live citizen visibility. Citizens cannot verify tanker potability or flood pump operational status.</a:t>
            </a:r>
          </a:p>
          <a:p>
            <a:pPr>
              <a:spcBef>
                <a:spcPts val="1600"/>
              </a:spcBef>
              <a:defRPr sz="950" b="1">
                <a:solidFill>
                  <a:srgbClr val="F43F5E"/>
                </a:solidFill>
                <a:latin typeface="Segoe UI"/>
              </a:defRPr>
            </a:pPr>
            <a:r>
              <a:t>Impact: Average inter-departmental notification latency exceeds 48 hours.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Segoe UI"/>
              </a:defRPr>
            </a:pPr>
            <a:r>
              <a:t>CIVICNEXUS AI · MUNICIPAL INTELLIGENCE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The CivicNexus AI Ecosystem: Unified Intelligent Governance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1783080"/>
            <a:ext cx="2194560" cy="36576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CITIZEN ACTION 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40280"/>
            <a:ext cx="2194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Empowered Public Participation</a:t>
            </a:r>
          </a:p>
          <a:p>
            <a:pPr>
              <a:spcBef>
                <a:spcPts val="8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One-Tap GPS Incident Reporting with auto-category AI</a:t>
            </a:r>
          </a:p>
          <a:p>
            <a:pPr>
              <a:spcBef>
                <a:spcPts val="8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Bilingual Tamil &amp; English Speech-to-Text Assistant</a:t>
            </a:r>
          </a:p>
          <a:p>
            <a:pPr>
              <a:spcBef>
                <a:spcPts val="8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Nearby Problems Radar with 1-click 'Support' upvoting</a:t>
            </a:r>
          </a:p>
          <a:p>
            <a:pPr>
              <a:spcBef>
                <a:spcPts val="8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Digital Ward Sabha budget voting &amp; Civic Pass rewards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645920"/>
            <a:ext cx="24688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66160" y="1783080"/>
            <a:ext cx="219456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78308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FIELD CONTRACTOR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240280"/>
            <a:ext cx="2194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Defect Liability &amp; Work Orders</a:t>
            </a:r>
          </a:p>
          <a:p>
            <a:pPr>
              <a:spcBef>
                <a:spcPts val="8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Ward Tender tracking with Defect Liability Period (DLP)</a:t>
            </a:r>
          </a:p>
          <a:p>
            <a:pPr>
              <a:spcBef>
                <a:spcPts val="8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AI Mobile Camera Road Roughness (IRI) Scanner</a:t>
            </a:r>
          </a:p>
          <a:p>
            <a:pPr>
              <a:spcBef>
                <a:spcPts val="8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RepairProof™ Before/After photo evidence upload</a:t>
            </a:r>
          </a:p>
          <a:p>
            <a:pPr>
              <a:spcBef>
                <a:spcPts val="8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Automated crew route optimization and dispatch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645920"/>
            <a:ext cx="24688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63640" y="1783080"/>
            <a:ext cx="2194560" cy="36576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78308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MUNICIPAL COMMAND DESK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240280"/>
            <a:ext cx="2194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Nodal Officer Telemetry &amp; Triage</a:t>
            </a:r>
          </a:p>
          <a:p>
            <a:pPr>
              <a:spcBef>
                <a:spcPts val="8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Monsoon Flood Desk: Canal levels &amp; remote SCADA pumps</a:t>
            </a:r>
          </a:p>
          <a:p>
            <a:pPr>
              <a:spcBef>
                <a:spcPts val="8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Power Grid Radar: Substation loads &amp; transformer alerts</a:t>
            </a:r>
          </a:p>
          <a:p>
            <a:pPr>
              <a:spcBef>
                <a:spcPts val="8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Dial-a-Tanker: GPS tracking &amp; certified potability scores</a:t>
            </a:r>
          </a:p>
          <a:p>
            <a:pPr>
              <a:spcBef>
                <a:spcPts val="8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Chief Minister Vigilance Overdue Escalation Desk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645920"/>
            <a:ext cx="24688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61120" y="1783080"/>
            <a:ext cx="2194560" cy="365760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178308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EXECUTIVE GOVERNANCE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240280"/>
            <a:ext cx="2194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Strategic Urban Analytics</a:t>
            </a:r>
          </a:p>
          <a:p>
            <a:pPr>
              <a:spcBef>
                <a:spcPts val="8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SLA Breach Risk Radar with predictive hazard indexing</a:t>
            </a:r>
          </a:p>
          <a:p>
            <a:pPr>
              <a:spcBef>
                <a:spcPts val="8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Root-Cause AI: Discovering cross-infrastructure causes</a:t>
            </a:r>
          </a:p>
          <a:p>
            <a:pPr>
              <a:spcBef>
                <a:spcPts val="8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Civic What-If Simulator for testing capital reallocation</a:t>
            </a:r>
          </a:p>
          <a:p>
            <a:pPr>
              <a:spcBef>
                <a:spcPts val="8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Algorithmic fairness audits ensuring equal ward attention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Segoe UI"/>
              </a:defRPr>
            </a:pPr>
            <a:r>
              <a:t>CIVICNEXUS AI · MUNICIPAL INTELLIGENCE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Key Innovation #1: Pre-Submission AI Duplicate Screening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How Pre-Submission Deduplication Works</a:t>
            </a:r>
          </a:p>
          <a:p>
            <a:pPr>
              <a:spcBef>
                <a:spcPts val="1200"/>
              </a:spcBef>
              <a:defRPr sz="1100">
                <a:solidFill>
                  <a:srgbClr val="475569"/>
                </a:solidFill>
              </a:defRPr>
            </a:pPr>
            <a:r>
              <a:t>Traditional civic systems store duplicate complaints in separate rows, creating massive database clutter and inflating backlog metrics. CivicNexus AI halts this at the exact moment of creation.</a:t>
            </a:r>
          </a:p>
          <a:p>
            <a:pPr>
              <a:spcBef>
                <a:spcPts val="800"/>
              </a:spcBef>
              <a:defRPr sz="1000">
                <a:solidFill>
                  <a:srgbClr val="0F172A"/>
                </a:solidFill>
              </a:defRPr>
            </a:pPr>
            <a:r>
              <a:t>1. Geofence Scan (50m Radius): Queries spatial index for active open issues matching the user's GPS coordinates.</a:t>
            </a:r>
          </a:p>
          <a:p>
            <a:pPr>
              <a:spcBef>
                <a:spcPts val="800"/>
              </a:spcBef>
              <a:defRPr sz="1000">
                <a:solidFill>
                  <a:srgbClr val="0F172A"/>
                </a:solidFill>
              </a:defRPr>
            </a:pPr>
            <a:r>
              <a:t>2. Visual Perceptual Hashing: Embeds uploaded photos to calculate image cosine similarity against open ward defects.</a:t>
            </a:r>
          </a:p>
          <a:p>
            <a:pPr>
              <a:spcBef>
                <a:spcPts val="800"/>
              </a:spcBef>
              <a:defRPr sz="1000">
                <a:solidFill>
                  <a:srgbClr val="0F172A"/>
                </a:solidFill>
              </a:defRPr>
            </a:pPr>
            <a:r>
              <a:t>3. Semantic Category Matching: Compares NLP embeddings of description against open tickets.</a:t>
            </a:r>
          </a:p>
          <a:p>
            <a:pPr>
              <a:spcBef>
                <a:spcPts val="800"/>
              </a:spcBef>
              <a:defRPr sz="1000">
                <a:solidFill>
                  <a:srgbClr val="0F172A"/>
                </a:solidFill>
              </a:defRPr>
            </a:pPr>
            <a:r>
              <a:t>4. 1-Click Support Action: Citizen simply clicks 'Support this Issue' (+1 Upvote). Priority escalates without creating a redundant ticket.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011023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Measurable Operational Impact</a:t>
            </a:r>
          </a:p>
          <a:p>
            <a:pPr>
              <a:spcBef>
                <a:spcPts val="1400"/>
              </a:spcBef>
              <a:defRPr sz="1400" b="1">
                <a:solidFill>
                  <a:srgbClr val="14B8A6"/>
                </a:solidFill>
              </a:defRPr>
            </a:pPr>
            <a:r>
              <a:t>74% Reduction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in redundant ticket submissions across high-traffic transit corridors.</a:t>
            </a:r>
          </a:p>
          <a:p>
            <a:pPr>
              <a:spcBef>
                <a:spcPts val="1400"/>
              </a:spcBef>
              <a:defRPr sz="1400" b="1">
                <a:solidFill>
                  <a:srgbClr val="14B8A6"/>
                </a:solidFill>
              </a:defRPr>
            </a:pPr>
            <a:r>
              <a:t>3.5x Faster Triage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Officers review clean, clustered issues rather than 50 separate complaints.</a:t>
            </a:r>
          </a:p>
          <a:p>
            <a:pPr>
              <a:spcBef>
                <a:spcPts val="1400"/>
              </a:spcBef>
              <a:defRPr sz="1400" b="1">
                <a:solidFill>
                  <a:srgbClr val="14B8A6"/>
                </a:solidFill>
              </a:defRPr>
            </a:pPr>
            <a:r>
              <a:t>Live Priority Escalation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Higher citizen upvotes automatically raise severity level from Low -&gt; Urgent.</a:t>
            </a:r>
          </a:p>
          <a:p>
            <a:pPr>
              <a:spcBef>
                <a:spcPts val="1400"/>
              </a:spcBef>
              <a:defRPr sz="1400" b="1">
                <a:solidFill>
                  <a:srgbClr val="14B8A6"/>
                </a:solidFill>
              </a:defRPr>
            </a:pPr>
            <a:r>
              <a:t>Citizen Transparency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Citizens see real-time status and subscribed updates for supported issues.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Segoe UI"/>
              </a:defRPr>
            </a:pPr>
            <a:r>
              <a:t>CIVICNEXUS AI · MUNICIPAL INTELLIGENCE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Key Innovation #2: RepairProof™ Auditing &amp; Defect Liability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1828800"/>
            <a:ext cx="2194560" cy="32004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Photographic Verification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8600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Interactive Before/After Slider</a:t>
            </a:r>
          </a:p>
          <a:p>
            <a:pPr>
              <a:spcBef>
                <a:spcPts val="1200"/>
              </a:spcBef>
              <a:defRPr sz="1000">
                <a:solidFill>
                  <a:srgbClr val="475569"/>
                </a:solidFill>
              </a:defRPr>
            </a:pPr>
            <a:r>
              <a:t>Contractors cannot mark a job 'Complete' with simple text. They must submit high-resolution photographic proof that is cross-aligned against the original complaint photo.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645920"/>
            <a:ext cx="24688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66160" y="1828800"/>
            <a:ext cx="2194560" cy="320040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82880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Anti-Fraud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28600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AI Metadata &amp; Tamper Audit</a:t>
            </a:r>
          </a:p>
          <a:p>
            <a:pPr>
              <a:spcBef>
                <a:spcPts val="1200"/>
              </a:spcBef>
              <a:defRPr sz="1000">
                <a:solidFill>
                  <a:srgbClr val="475569"/>
                </a:solidFill>
              </a:defRPr>
            </a:pPr>
            <a:r>
              <a:t>Computer vision models analyze EXIF metadata, GPS stamping, camera elevation, and pixel diffs to prevent submission of stock photos or photos from other locations.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645920"/>
            <a:ext cx="24688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63640" y="1828800"/>
            <a:ext cx="2194560" cy="320040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82880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Community Power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28600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Citizen Dispute Guarantee</a:t>
            </a:r>
          </a:p>
          <a:p>
            <a:pPr>
              <a:spcBef>
                <a:spcPts val="1200"/>
              </a:spcBef>
              <a:defRPr sz="1000">
                <a:solidFill>
                  <a:srgbClr val="475569"/>
                </a:solidFill>
              </a:defRPr>
            </a:pPr>
            <a:r>
              <a:t>Resolutions are placed in 'Pending Citizen Audit'. The complainant has 72 hours to verify work on-site, selecting 'Fixed' or 'Disputed' with photo rebuttal.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645920"/>
            <a:ext cx="24688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61120" y="1828800"/>
            <a:ext cx="2194560" cy="3200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182880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Financial Accountability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28600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Defect Liability Escrow (DLP)</a:t>
            </a:r>
          </a:p>
          <a:p>
            <a:pPr>
              <a:spcBef>
                <a:spcPts val="1200"/>
              </a:spcBef>
              <a:defRPr sz="1000">
                <a:solidFill>
                  <a:srgbClr val="475569"/>
                </a:solidFill>
              </a:defRPr>
            </a:pPr>
            <a:r>
              <a:t>Municipal contract retainage (10-15%) is locked in escrow during the 12-month defect liability period. If the road cracks again, the contractor is billed automatically.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Segoe UI"/>
              </a:defRPr>
            </a:pPr>
            <a:r>
              <a:t>CIVICNEXUS AI · MUNICIPAL INTELLIGENCE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15 Flagship Municipal Services: Complete Urban Coverage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1783080"/>
            <a:ext cx="2194560" cy="36576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CITIZEN UTILITIES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40280"/>
            <a:ext cx="2194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#1 WhatsApp Bot Desk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Multilingual complaint filing via WhatsApp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#6 Dial-a-Tanker Tracker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GPS tanker dispatch with water potability lab stats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#7 Digital Ward Sabha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Participatory citizen voting on ward development funds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#8 Civic Pass Karma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Property tax rebates for active verified reporting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645920"/>
            <a:ext cx="24688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66160" y="1783080"/>
            <a:ext cx="2194560" cy="36576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78308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SAFETY &amp; RESILIENCE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240280"/>
            <a:ext cx="2194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#2 Monsoon Flood Desk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Stormwater canal sensors &amp; remote pump telemetry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#5 Night Safety Radar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Streetlight illumination mapping &amp; police patrol routes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#12 Power Grid Telemetry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Substation SCADA breaker loads &amp; outage tracking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#13 Emergency SOS Desk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Multi-agency 1-tap distress alerting (1070 SOS)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645920"/>
            <a:ext cx="24688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63640" y="1783080"/>
            <a:ext cx="219456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78308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WORKS &amp; CONTRACTORS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240280"/>
            <a:ext cx="2194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#3 Ward Tenders &amp; DLP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Contractor accountability &amp; defect liability claims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#4 AI Road Scanner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Mobile camera pothole &amp; road roughness (IRI) scanner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#14 Department Directory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8 municipal departments with direct nodal contacts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#15 Priority Routing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Severity-based triage for civic grievances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645920"/>
            <a:ext cx="24688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61120" y="1783080"/>
            <a:ext cx="2194560" cy="365760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178308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ENVIRONMENT &amp; ECOLOGY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240280"/>
            <a:ext cx="2194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#9 Stray Animal Care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24/7 veterinary ambulance dispatch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#10 Noise Monitor dB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Acoustic decibel tracking in hospital silence zones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#11 Urban Tree Guardian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Neighborhood tree census, canopy &amp; sapling adoption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GIS Spatial Heatmap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Interactive ward-level civic problem heatmap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Segoe UI"/>
              </a:defRPr>
            </a:pPr>
            <a:r>
              <a:t>CIVICNEXUS AI · MUNICIPAL INTELLIGENCE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21 Verified Civic Solutions: The Intelligence Matrix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828800"/>
            <a:ext cx="2286000" cy="64008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228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Citizen Services (8)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78308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Smart Civic Report   •   Nearby Problems Map   •   Tamil Voice Assistant   •   Multimodal Studio   •   SafeRoute Navigation   •   Accessibility Mapper   •   Public Help Finder   •   Offline-First Sync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106984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971800"/>
            <a:ext cx="228600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971800"/>
            <a:ext cx="228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Accountability &amp; Trust (5)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926079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RepairProof™ Verification   •   Live Status Tracking   •   Public Service Alerts   •   Overdue Escalation Desk   •   Photo Change Detection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106984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" y="4114800"/>
            <a:ext cx="2286000" cy="64008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114800"/>
            <a:ext cx="228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AI Intelligence Core (5)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06908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Civic Memory AI   •   Civic Risk Radar   •   Root-Cause AI Hypotheses   •   Follow-up RTI Drafter   •   Civic Knowledge Graph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074920"/>
            <a:ext cx="106984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5257800"/>
            <a:ext cx="2286000" cy="640080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228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Governance &amp; Strategy (3)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521208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Community Action Matcher   •   Civic What-If Simulator   •   Executive Impact Analytics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Segoe UI"/>
              </a:defRPr>
            </a:pPr>
            <a:r>
              <a:t>CIVICNEXUS AI · MUNICIPAL INTELLIGENCE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Strict Role-Based Access Control (RBAC) &amp; Security Gate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1828800" cy="41148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Citizen (பொதுமக்கள்)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18288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Scope: Public Resident</a:t>
            </a:r>
          </a:p>
          <a:p>
            <a:pPr>
              <a:spcBef>
                <a:spcPts val="800"/>
              </a:spcBef>
              <a:defRPr sz="950" b="1">
                <a:solidFill>
                  <a:srgbClr val="0D9488"/>
                </a:solidFill>
              </a:defRPr>
            </a:pPr>
            <a:r>
              <a:t>Authorized Access: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Grievance submission, Tamil voice reporting, tanker bookings, Ward Sabha voting, Civic Pass karma rewards.</a:t>
            </a:r>
          </a:p>
          <a:p>
            <a:pPr>
              <a:spcBef>
                <a:spcPts val="1000"/>
              </a:spcBef>
              <a:defRPr sz="950" b="1">
                <a:solidFill>
                  <a:srgbClr val="F43F5E"/>
                </a:solidFill>
              </a:defRPr>
            </a:pPr>
            <a:r>
              <a:t>Locked &amp; Restricted: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Contractor tender bidding, SCADA flood pumps, power grid breaker control, municipal administration.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07791" y="164592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99232" y="1783080"/>
            <a:ext cx="1828800" cy="4114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9232" y="178308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Ward Volunteer (வார்டு தொண்டர்)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9232" y="2286000"/>
            <a:ext cx="18288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Scope: Community Steward</a:t>
            </a:r>
          </a:p>
          <a:p>
            <a:pPr>
              <a:spcBef>
                <a:spcPts val="800"/>
              </a:spcBef>
              <a:defRPr sz="950" b="1">
                <a:solidFill>
                  <a:srgbClr val="0D9488"/>
                </a:solidFill>
              </a:defRPr>
            </a:pPr>
            <a:r>
              <a:t>Authorized Access: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Tree canopy census, community action matcher, RepairProof audit confirmations, stray animal rescue.</a:t>
            </a:r>
          </a:p>
          <a:p>
            <a:pPr>
              <a:spcBef>
                <a:spcPts val="1000"/>
              </a:spcBef>
              <a:defRPr sz="950" b="1">
                <a:solidFill>
                  <a:srgbClr val="F43F5E"/>
                </a:solidFill>
              </a:defRPr>
            </a:pPr>
            <a:r>
              <a:t>Locked &amp; Restricted: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High-voltage power grid controls, municipal work orders, financial budget reallocation.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4064" y="164592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75503" y="1783080"/>
            <a:ext cx="1828800" cy="4114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5503" y="178308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Field Contractor (களப் பொறியாளர்)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5503" y="2286000"/>
            <a:ext cx="18288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Scope: Field Operations</a:t>
            </a:r>
          </a:p>
          <a:p>
            <a:pPr>
              <a:spcBef>
                <a:spcPts val="800"/>
              </a:spcBef>
              <a:defRPr sz="950" b="1">
                <a:solidFill>
                  <a:srgbClr val="0D9488"/>
                </a:solidFill>
              </a:defRPr>
            </a:pPr>
            <a:r>
              <a:t>Authorized Access: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Ward tender defect liability tracking, AI road defect uploads, RepairProof photographic resolution uploads.</a:t>
            </a:r>
          </a:p>
          <a:p>
            <a:pPr>
              <a:spcBef>
                <a:spcPts val="1000"/>
              </a:spcBef>
              <a:defRPr sz="950" b="1">
                <a:solidFill>
                  <a:srgbClr val="F43F5E"/>
                </a:solidFill>
              </a:defRPr>
            </a:pPr>
            <a:r>
              <a:t>Locked &amp; Restricted: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Flood pump SCADA activation, electrical substation breaker switching, citizen budget voting.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60336" y="164592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51775" y="1783080"/>
            <a:ext cx="1828800" cy="41148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51775" y="178308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Municipal Officer (துறை அலுவலர்)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51775" y="2286000"/>
            <a:ext cx="18288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Scope: Nodal Authority</a:t>
            </a:r>
          </a:p>
          <a:p>
            <a:pPr>
              <a:spcBef>
                <a:spcPts val="800"/>
              </a:spcBef>
              <a:defRPr sz="950" b="1">
                <a:solidFill>
                  <a:srgbClr val="0D9488"/>
                </a:solidFill>
              </a:defRPr>
            </a:pPr>
            <a:r>
              <a:t>Authorized Access: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Monsoon flood canal telemetry, remote SCADA pump tripping, power grid feeder monitoring, overdue grievance desk.</a:t>
            </a:r>
          </a:p>
          <a:p>
            <a:pPr>
              <a:spcBef>
                <a:spcPts val="1000"/>
              </a:spcBef>
              <a:defRPr sz="950" b="1">
                <a:solidFill>
                  <a:srgbClr val="F43F5E"/>
                </a:solidFill>
              </a:defRPr>
            </a:pPr>
            <a:r>
              <a:t>Locked &amp; Restricted: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Contractor tender bidding, root system administration configuration.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36608" y="164592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528048" y="1783080"/>
            <a:ext cx="1828800" cy="411480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8048" y="178308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Administrator (மண்டல ஆணையர்)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8048" y="2286000"/>
            <a:ext cx="18288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Scope: Executive Leadership</a:t>
            </a:r>
          </a:p>
          <a:p>
            <a:pPr>
              <a:spcBef>
                <a:spcPts val="800"/>
              </a:spcBef>
              <a:defRPr sz="950" b="1">
                <a:solidFill>
                  <a:srgbClr val="0D9488"/>
                </a:solidFill>
              </a:defRPr>
            </a:pPr>
            <a:r>
              <a:t>Authorized Access: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Full executive command across all 15 municipal services, what-if simulator, root-cause AI, algorithmic fairness audit.</a:t>
            </a:r>
          </a:p>
          <a:p>
            <a:pPr>
              <a:spcBef>
                <a:spcPts val="1000"/>
              </a:spcBef>
              <a:defRPr sz="950" b="1">
                <a:solidFill>
                  <a:srgbClr val="F43F5E"/>
                </a:solidFill>
              </a:defRPr>
            </a:pPr>
            <a:r>
              <a:t>Locked &amp; Restricted: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None. Full platform auditing authority.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Segoe UI"/>
              </a:defRPr>
            </a:pPr>
            <a:r>
              <a:t>CIVICNEXUS AI · MUNICIPAL INTELLIGENCE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Real-Time Telemetry &amp; Smart City IoT Integration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1783080"/>
            <a:ext cx="2194560" cy="36576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Water Level &amp; SCADA Pumps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40280"/>
            <a:ext cx="2194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Monsoon Flood Desk (SWD)</a:t>
            </a:r>
          </a:p>
          <a:p>
            <a:pPr>
              <a:spcBef>
                <a:spcPts val="800"/>
              </a:spcBef>
              <a:defRPr sz="950" b="1">
                <a:solidFill>
                  <a:srgbClr val="06B6D4"/>
                </a:solidFill>
              </a:defRPr>
            </a:pPr>
            <a:r>
              <a:t>Canal Flow: 42 m³/s · 3 Pumps Online</a:t>
            </a:r>
          </a:p>
          <a:p>
            <a:pPr>
              <a:spcBef>
                <a:spcPts val="1000"/>
              </a:spcBef>
              <a:defRPr sz="950">
                <a:solidFill>
                  <a:srgbClr val="475569"/>
                </a:solidFill>
              </a:defRPr>
            </a:pPr>
            <a:r>
              <a:t>Real-time ultrasonic water level sensors deployed across Velachery, Pulianthope, and Vyasarpadi canals. Automatically commands de-watering pump starters when water levels exceed 85% capacity.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645920"/>
            <a:ext cx="24688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66160" y="1783080"/>
            <a:ext cx="219456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78308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TANGEDCO 33kV/11kV Feeders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240280"/>
            <a:ext cx="2194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Substation SCADA Radar</a:t>
            </a:r>
          </a:p>
          <a:p>
            <a:pPr>
              <a:spcBef>
                <a:spcPts val="800"/>
              </a:spcBef>
              <a:defRPr sz="950" b="1">
                <a:solidFill>
                  <a:srgbClr val="F59E0B"/>
                </a:solidFill>
              </a:defRPr>
            </a:pPr>
            <a:r>
              <a:t>Grid Load: 89% · 2 Transformers Alerting</a:t>
            </a:r>
          </a:p>
          <a:p>
            <a:pPr>
              <a:spcBef>
                <a:spcPts val="1000"/>
              </a:spcBef>
              <a:defRPr sz="950">
                <a:solidFill>
                  <a:srgbClr val="475569"/>
                </a:solidFill>
              </a:defRPr>
            </a:pPr>
            <a:r>
              <a:t>Monitors transformer core temperatures, feeder load distribution, and phase balancing. Provides instant visual alerts for tripping risks, preventing neighborhood blackouts during peak hours.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645920"/>
            <a:ext cx="24688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63640" y="1783080"/>
            <a:ext cx="2194560" cy="36576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78308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CMWSSB Dial-a-Tanker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240280"/>
            <a:ext cx="2194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Water Potability Labs</a:t>
            </a:r>
          </a:p>
          <a:p>
            <a:pPr>
              <a:spcBef>
                <a:spcPts val="800"/>
              </a:spcBef>
              <a:defRPr sz="950" b="1">
                <a:solidFill>
                  <a:srgbClr val="0D9488"/>
                </a:solidFill>
              </a:defRPr>
            </a:pPr>
            <a:r>
              <a:t>TDS: 280 ppm · pH: 7.2 (100% Safe)</a:t>
            </a:r>
          </a:p>
          <a:p>
            <a:pPr>
              <a:spcBef>
                <a:spcPts val="1000"/>
              </a:spcBef>
              <a:defRPr sz="950">
                <a:solidFill>
                  <a:srgbClr val="475569"/>
                </a:solidFill>
              </a:defRPr>
            </a:pPr>
            <a:r>
              <a:t>GPS-tracked municipal water delivery with live lab test certificates. Citizens can verify chlorination, total dissolved solids, and bacterial safety before accepting delivery.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645920"/>
            <a:ext cx="24688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61120" y="1783080"/>
            <a:ext cx="2194560" cy="365760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178308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TNPCB Acoustic Monitoring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240280"/>
            <a:ext cx="2194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Silence Zone Decibel Radar</a:t>
            </a:r>
          </a:p>
          <a:p>
            <a:pPr>
              <a:spcBef>
                <a:spcPts val="800"/>
              </a:spcBef>
              <a:defRPr sz="950" b="1">
                <a:solidFill>
                  <a:srgbClr val="A855F7"/>
                </a:solidFill>
              </a:defRPr>
            </a:pPr>
            <a:r>
              <a:t>Noise Level: 58 dB (Permissible &lt; 50 dB)</a:t>
            </a:r>
          </a:p>
          <a:p>
            <a:pPr>
              <a:spcBef>
                <a:spcPts val="1000"/>
              </a:spcBef>
              <a:defRPr sz="950">
                <a:solidFill>
                  <a:srgbClr val="475569"/>
                </a:solidFill>
              </a:defRPr>
            </a:pPr>
            <a:r>
              <a:t>Continuous acoustic decibel sampling around hospital complexes and school corridors. Automatically flags commercial honking and construction violations to traffic authorities.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Segoe UI"/>
              </a:defRPr>
            </a:pPr>
            <a:r>
              <a:t>CIVICNEXUS AI · MUNICIPAL INTELLIGENCE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Technical Architecture &amp; Production Technology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1783080"/>
            <a:ext cx="2194560" cy="36576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FRONTEND APPLICATION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40280"/>
            <a:ext cx="2194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React 18 + TypeScript + Vite</a:t>
            </a:r>
          </a:p>
          <a:p>
            <a:pPr>
              <a:spcBef>
                <a:spcPts val="700"/>
              </a:spcBef>
              <a:defRPr sz="950">
                <a:solidFill>
                  <a:srgbClr val="475569"/>
                </a:solidFill>
              </a:defRPr>
            </a:pPr>
            <a:r>
              <a:t>• Tailwind CSS with glassmorphic tokens</a:t>
            </a:r>
          </a:p>
          <a:p>
            <a:pPr>
              <a:spcBef>
                <a:spcPts val="700"/>
              </a:spcBef>
              <a:defRPr sz="950">
                <a:solidFill>
                  <a:srgbClr val="475569"/>
                </a:solidFill>
              </a:defRPr>
            </a:pPr>
            <a:r>
              <a:t>• Lucide React Iconography (300+ icons)</a:t>
            </a:r>
          </a:p>
          <a:p>
            <a:pPr>
              <a:spcBef>
                <a:spcPts val="700"/>
              </a:spcBef>
              <a:defRPr sz="950">
                <a:solidFill>
                  <a:srgbClr val="475569"/>
                </a:solidFill>
              </a:defRPr>
            </a:pPr>
            <a:r>
              <a:t>• Recharts for real-time telemetry analytics</a:t>
            </a:r>
          </a:p>
          <a:p>
            <a:pPr>
              <a:spcBef>
                <a:spcPts val="700"/>
              </a:spcBef>
              <a:defRPr sz="950">
                <a:solidFill>
                  <a:srgbClr val="475569"/>
                </a:solidFill>
              </a:defRPr>
            </a:pPr>
            <a:r>
              <a:t>• RoleAccessGate route-level security wrapper</a:t>
            </a:r>
          </a:p>
          <a:p>
            <a:pPr>
              <a:spcBef>
                <a:spcPts val="700"/>
              </a:spcBef>
              <a:defRPr sz="950">
                <a:solidFill>
                  <a:srgbClr val="475569"/>
                </a:solidFill>
              </a:defRPr>
            </a:pPr>
            <a:r>
              <a:t>• Service Worker for offline incident queuing</a:t>
            </a:r>
          </a:p>
          <a:p>
            <a:pPr>
              <a:spcBef>
                <a:spcPts val="700"/>
              </a:spcBef>
              <a:defRPr sz="950">
                <a:solidFill>
                  <a:srgbClr val="475569"/>
                </a:solidFill>
              </a:defRPr>
            </a:pPr>
            <a:r>
              <a:t>• Production bundle optimized to 1.3 MB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645920"/>
            <a:ext cx="24688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66160" y="1783080"/>
            <a:ext cx="2194560" cy="36576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78308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BACKEND MICROSERVICES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240280"/>
            <a:ext cx="2194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Python FastAPI + Node.js Engine</a:t>
            </a:r>
          </a:p>
          <a:p>
            <a:pPr>
              <a:spcBef>
                <a:spcPts val="700"/>
              </a:spcBef>
              <a:defRPr sz="950">
                <a:solidFill>
                  <a:srgbClr val="475569"/>
                </a:solidFill>
              </a:defRPr>
            </a:pPr>
            <a:r>
              <a:t>• Asynchronous RESTful APIs with Swagger docs</a:t>
            </a:r>
          </a:p>
          <a:p>
            <a:pPr>
              <a:spcBef>
                <a:spcPts val="700"/>
              </a:spcBef>
              <a:defRPr sz="950">
                <a:solidFill>
                  <a:srgbClr val="475569"/>
                </a:solidFill>
              </a:defRPr>
            </a:pPr>
            <a:r>
              <a:t>• Spatial GIS geofencing &amp; bounding box queries</a:t>
            </a:r>
          </a:p>
          <a:p>
            <a:pPr>
              <a:spcBef>
                <a:spcPts val="700"/>
              </a:spcBef>
              <a:defRPr sz="950">
                <a:solidFill>
                  <a:srgbClr val="475569"/>
                </a:solidFill>
              </a:defRPr>
            </a:pPr>
            <a:r>
              <a:t>• Real-time event stream broadcaster (SSE / WS)</a:t>
            </a:r>
          </a:p>
          <a:p>
            <a:pPr>
              <a:spcBef>
                <a:spcPts val="700"/>
              </a:spcBef>
              <a:defRPr sz="950">
                <a:solidFill>
                  <a:srgbClr val="475569"/>
                </a:solidFill>
              </a:defRPr>
            </a:pPr>
            <a:r>
              <a:t>• Perceptual image hashing for duplicate detection</a:t>
            </a:r>
          </a:p>
          <a:p>
            <a:pPr>
              <a:spcBef>
                <a:spcPts val="700"/>
              </a:spcBef>
              <a:defRPr sz="950">
                <a:solidFill>
                  <a:srgbClr val="475569"/>
                </a:solidFill>
              </a:defRPr>
            </a:pPr>
            <a:r>
              <a:t>• JWT Authentication with role claims</a:t>
            </a:r>
          </a:p>
          <a:p>
            <a:pPr>
              <a:spcBef>
                <a:spcPts val="700"/>
              </a:spcBef>
              <a:defRPr sz="950">
                <a:solidFill>
                  <a:srgbClr val="475569"/>
                </a:solidFill>
              </a:defRPr>
            </a:pPr>
            <a:r>
              <a:t>• Statutory SLA escalation triggers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645920"/>
            <a:ext cx="24688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63640" y="1783080"/>
            <a:ext cx="2194560" cy="365760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78308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AI &amp; COMPUTER VISION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240280"/>
            <a:ext cx="2194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Neural Models + Speech AI</a:t>
            </a:r>
          </a:p>
          <a:p>
            <a:pPr>
              <a:spcBef>
                <a:spcPts val="700"/>
              </a:spcBef>
              <a:defRPr sz="950">
                <a:solidFill>
                  <a:srgbClr val="475569"/>
                </a:solidFill>
              </a:defRPr>
            </a:pPr>
            <a:r>
              <a:t>• Tamil &amp; English Speech-to-Text models</a:t>
            </a:r>
          </a:p>
          <a:p>
            <a:pPr>
              <a:spcBef>
                <a:spcPts val="700"/>
              </a:spcBef>
              <a:defRPr sz="950">
                <a:solidFill>
                  <a:srgbClr val="475569"/>
                </a:solidFill>
              </a:defRPr>
            </a:pPr>
            <a:r>
              <a:t>• Pothole &amp; Road Defect detector (YOLO / OpenCV)</a:t>
            </a:r>
          </a:p>
          <a:p>
            <a:pPr>
              <a:spcBef>
                <a:spcPts val="700"/>
              </a:spcBef>
              <a:defRPr sz="950">
                <a:solidFill>
                  <a:srgbClr val="475569"/>
                </a:solidFill>
              </a:defRPr>
            </a:pPr>
            <a:r>
              <a:t>• EXIF metadata validation &amp; tamper audit</a:t>
            </a:r>
          </a:p>
          <a:p>
            <a:pPr>
              <a:spcBef>
                <a:spcPts val="700"/>
              </a:spcBef>
              <a:defRPr sz="950">
                <a:solidFill>
                  <a:srgbClr val="475569"/>
                </a:solidFill>
              </a:defRPr>
            </a:pPr>
            <a:r>
              <a:t>• Root-Cause hypothesis inference engine</a:t>
            </a:r>
          </a:p>
          <a:p>
            <a:pPr>
              <a:spcBef>
                <a:spcPts val="700"/>
              </a:spcBef>
              <a:defRPr sz="950">
                <a:solidFill>
                  <a:srgbClr val="475569"/>
                </a:solidFill>
              </a:defRPr>
            </a:pPr>
            <a:r>
              <a:t>• Predictive incident volume forecasting</a:t>
            </a:r>
          </a:p>
          <a:p>
            <a:pPr>
              <a:spcBef>
                <a:spcPts val="700"/>
              </a:spcBef>
              <a:defRPr sz="950">
                <a:solidFill>
                  <a:srgbClr val="475569"/>
                </a:solidFill>
              </a:defRPr>
            </a:pPr>
            <a:r>
              <a:t>• Algorithmic ward fairness scoring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645920"/>
            <a:ext cx="24688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61120" y="1783080"/>
            <a:ext cx="219456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178308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DEVOPS &amp; CLOUD 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240280"/>
            <a:ext cx="2194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Docker + Cloud Deployment</a:t>
            </a:r>
          </a:p>
          <a:p>
            <a:pPr>
              <a:spcBef>
                <a:spcPts val="700"/>
              </a:spcBef>
              <a:defRPr sz="950">
                <a:solidFill>
                  <a:srgbClr val="475569"/>
                </a:solidFill>
              </a:defRPr>
            </a:pPr>
            <a:r>
              <a:t>• Render / Cloud production deployment ready</a:t>
            </a:r>
          </a:p>
          <a:p>
            <a:pPr>
              <a:spcBef>
                <a:spcPts val="700"/>
              </a:spcBef>
              <a:defRPr sz="950">
                <a:solidFill>
                  <a:srgbClr val="475569"/>
                </a:solidFill>
              </a:defRPr>
            </a:pPr>
            <a:r>
              <a:t>• Static asset CDN caching with gzip / Brotli</a:t>
            </a:r>
          </a:p>
          <a:p>
            <a:pPr>
              <a:spcBef>
                <a:spcPts val="700"/>
              </a:spcBef>
              <a:defRPr sz="950">
                <a:solidFill>
                  <a:srgbClr val="475569"/>
                </a:solidFill>
              </a:defRPr>
            </a:pPr>
            <a:r>
              <a:t>• Zero compile-time TypeScript warnings</a:t>
            </a:r>
          </a:p>
          <a:p>
            <a:pPr>
              <a:spcBef>
                <a:spcPts val="700"/>
              </a:spcBef>
              <a:defRPr sz="950">
                <a:solidFill>
                  <a:srgbClr val="475569"/>
                </a:solidFill>
              </a:defRPr>
            </a:pPr>
            <a:r>
              <a:t>• Environment configuration (.env) isolation</a:t>
            </a:r>
          </a:p>
          <a:p>
            <a:pPr>
              <a:spcBef>
                <a:spcPts val="700"/>
              </a:spcBef>
              <a:defRPr sz="950">
                <a:solidFill>
                  <a:srgbClr val="475569"/>
                </a:solidFill>
              </a:defRPr>
            </a:pPr>
            <a:r>
              <a:t>• CORS protection &amp; security headers</a:t>
            </a:r>
          </a:p>
          <a:p>
            <a:pPr>
              <a:spcBef>
                <a:spcPts val="700"/>
              </a:spcBef>
              <a:defRPr sz="950">
                <a:solidFill>
                  <a:srgbClr val="475569"/>
                </a:solidFill>
              </a:defRPr>
            </a:pPr>
            <a:r>
              <a:t>• Continuous automated build verification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0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Segoe UI"/>
              </a:defRPr>
            </a:pPr>
            <a:r>
              <a:t>CIVICNEXUS AI · MUNICIPAL INTELLIGENCE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Measurable Civic Impact &amp; Return on Investment (ROI)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2103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4B8A6"/>
                </a:solidFill>
                <a:latin typeface="Segoe UI"/>
              </a:defRPr>
            </a:pPr>
            <a:r>
              <a:t>74%</a:t>
            </a:r>
          </a:p>
          <a:p>
            <a:pPr>
              <a:spcBef>
                <a:spcPts val="8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Duplicate Reduction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Pre-submission screening eliminates 7 out of 10 duplicate complaints, freeing up municipal engineering bandwidth.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246888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2011680"/>
            <a:ext cx="2103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4B8A6"/>
                </a:solidFill>
                <a:latin typeface="Segoe UI"/>
              </a:defRPr>
            </a:pPr>
            <a:r>
              <a:t>3.2x</a:t>
            </a:r>
          </a:p>
          <a:p>
            <a:pPr>
              <a:spcBef>
                <a:spcPts val="8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Faster SLA Compliance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Automated department routing &amp; predictive SLA risk radars accelerate average grievance resolution from 8 days to 2.5 days.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645920"/>
            <a:ext cx="246888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2011680"/>
            <a:ext cx="2103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4B8A6"/>
                </a:solidFill>
                <a:latin typeface="Segoe UI"/>
              </a:defRPr>
            </a:pPr>
            <a:r>
              <a:t>98%</a:t>
            </a:r>
          </a:p>
          <a:p>
            <a:pPr>
              <a:spcBef>
                <a:spcPts val="8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Verified Resolutions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RepairProof™ Before/After photographic validation and citizen audit ensure zero ghost closures.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645920"/>
            <a:ext cx="246888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6840" y="2011680"/>
            <a:ext cx="2103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4B8A6"/>
                </a:solidFill>
                <a:latin typeface="Segoe UI"/>
              </a:defRPr>
            </a:pPr>
            <a:r>
              <a:t>100%</a:t>
            </a:r>
          </a:p>
          <a:p>
            <a:pPr>
              <a:spcBef>
                <a:spcPts val="8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Ward Equity Audit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Algorithmic fairness audits eliminate preferential treatment, ensuring peripheral wards receive equal resource allocation.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Segoe UI"/>
              </a:defRPr>
            </a:pPr>
            <a:r>
              <a:t>CIVICNEXUS AI · MUNICIPAL INTELLIGENCE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Future Roadmap: Scaling to Pan-State Civic Intelligence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1783080"/>
            <a:ext cx="2194560" cy="36576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PHASE 1: CURRENT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40280"/>
            <a:ext cx="2194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Chennai Municipal Rollout</a:t>
            </a:r>
          </a:p>
          <a:p>
            <a:pPr>
              <a:spcBef>
                <a:spcPts val="800"/>
              </a:spcBef>
              <a:defRPr sz="950">
                <a:solidFill>
                  <a:srgbClr val="475569"/>
                </a:solidFill>
              </a:defRPr>
            </a:pPr>
            <a:r>
              <a:t>• All 15 Flagship Municipal Services deployed</a:t>
            </a:r>
          </a:p>
          <a:p>
            <a:pPr>
              <a:spcBef>
                <a:spcPts val="800"/>
              </a:spcBef>
              <a:defRPr sz="950">
                <a:solidFill>
                  <a:srgbClr val="475569"/>
                </a:solidFill>
              </a:defRPr>
            </a:pPr>
            <a:r>
              <a:t>• GCC Works, CMWSSB, TANGEDCO telemetry</a:t>
            </a:r>
          </a:p>
          <a:p>
            <a:pPr>
              <a:spcBef>
                <a:spcPts val="800"/>
              </a:spcBef>
              <a:defRPr sz="950">
                <a:solidFill>
                  <a:srgbClr val="475569"/>
                </a:solidFill>
              </a:defRPr>
            </a:pPr>
            <a:r>
              <a:t>• Bilingual Tamil voice assistant active</a:t>
            </a:r>
          </a:p>
          <a:p>
            <a:pPr>
              <a:spcBef>
                <a:spcPts val="800"/>
              </a:spcBef>
              <a:defRPr sz="950">
                <a:solidFill>
                  <a:srgbClr val="475569"/>
                </a:solidFill>
              </a:defRPr>
            </a:pPr>
            <a:r>
              <a:t>• Role isolation &amp; citizen dispute audit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645920"/>
            <a:ext cx="24688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66160" y="1783080"/>
            <a:ext cx="2194560" cy="36576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78308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PHASE 2: Q3-Q4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240280"/>
            <a:ext cx="2194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Drone Lidar &amp; Autonomous Patrols</a:t>
            </a:r>
          </a:p>
          <a:p>
            <a:pPr>
              <a:spcBef>
                <a:spcPts val="800"/>
              </a:spcBef>
              <a:defRPr sz="950">
                <a:solidFill>
                  <a:srgbClr val="475569"/>
                </a:solidFill>
              </a:defRPr>
            </a:pPr>
            <a:r>
              <a:t>• Drone-based aerial pothole &amp; thermal road surveys</a:t>
            </a:r>
          </a:p>
          <a:p>
            <a:pPr>
              <a:spcBef>
                <a:spcPts val="800"/>
              </a:spcBef>
              <a:defRPr sz="950">
                <a:solidFill>
                  <a:srgbClr val="475569"/>
                </a:solidFill>
              </a:defRPr>
            </a:pPr>
            <a:r>
              <a:t>• Automated municipal road roughness indexing</a:t>
            </a:r>
          </a:p>
          <a:p>
            <a:pPr>
              <a:spcBef>
                <a:spcPts val="800"/>
              </a:spcBef>
              <a:defRPr sz="950">
                <a:solidFill>
                  <a:srgbClr val="475569"/>
                </a:solidFill>
              </a:defRPr>
            </a:pPr>
            <a:r>
              <a:t>• Predictive water pipeline leak acoustic sensors</a:t>
            </a:r>
          </a:p>
          <a:p>
            <a:pPr>
              <a:spcBef>
                <a:spcPts val="800"/>
              </a:spcBef>
              <a:defRPr sz="950">
                <a:solidFill>
                  <a:srgbClr val="475569"/>
                </a:solidFill>
              </a:defRPr>
            </a:pPr>
            <a:r>
              <a:t>• Smart streetlight dimming IoT telemetry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645920"/>
            <a:ext cx="24688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63640" y="1783080"/>
            <a:ext cx="219456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78308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PHASE 3: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240280"/>
            <a:ext cx="2194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Defect Liability Smart Contracts</a:t>
            </a:r>
          </a:p>
          <a:p>
            <a:pPr>
              <a:spcBef>
                <a:spcPts val="800"/>
              </a:spcBef>
              <a:defRPr sz="950">
                <a:solidFill>
                  <a:srgbClr val="475569"/>
                </a:solidFill>
              </a:defRPr>
            </a:pPr>
            <a:r>
              <a:t>• Automated contractor bank guarantee locks</a:t>
            </a:r>
          </a:p>
          <a:p>
            <a:pPr>
              <a:spcBef>
                <a:spcPts val="800"/>
              </a:spcBef>
              <a:defRPr sz="950">
                <a:solidFill>
                  <a:srgbClr val="475569"/>
                </a:solidFill>
              </a:defRPr>
            </a:pPr>
            <a:r>
              <a:t>• Blockchain-audited municipal tender retentions</a:t>
            </a:r>
          </a:p>
          <a:p>
            <a:pPr>
              <a:spcBef>
                <a:spcPts val="800"/>
              </a:spcBef>
              <a:defRPr sz="950">
                <a:solidFill>
                  <a:srgbClr val="475569"/>
                </a:solidFill>
              </a:defRPr>
            </a:pPr>
            <a:r>
              <a:t>• Public expenditure &amp; material quality proofs</a:t>
            </a:r>
          </a:p>
          <a:p>
            <a:pPr>
              <a:spcBef>
                <a:spcPts val="800"/>
              </a:spcBef>
              <a:defRPr sz="950">
                <a:solidFill>
                  <a:srgbClr val="475569"/>
                </a:solidFill>
              </a:defRPr>
            </a:pPr>
            <a:r>
              <a:t>• Citizen karma tokens redeemable for bus passes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645920"/>
            <a:ext cx="24688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61120" y="1783080"/>
            <a:ext cx="2194560" cy="365760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178308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PHASE 4: 2027+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240280"/>
            <a:ext cx="2194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Pan-State Multi-City Federation</a:t>
            </a:r>
          </a:p>
          <a:p>
            <a:pPr>
              <a:spcBef>
                <a:spcPts val="800"/>
              </a:spcBef>
              <a:defRPr sz="950">
                <a:solidFill>
                  <a:srgbClr val="475569"/>
                </a:solidFill>
              </a:defRPr>
            </a:pPr>
            <a:r>
              <a:t>• Expansion to Coimbatore, Madurai, Tiruchirappalli</a:t>
            </a:r>
          </a:p>
          <a:p>
            <a:pPr>
              <a:spcBef>
                <a:spcPts val="800"/>
              </a:spcBef>
              <a:defRPr sz="950">
                <a:solidFill>
                  <a:srgbClr val="475569"/>
                </a:solidFill>
              </a:defRPr>
            </a:pPr>
            <a:r>
              <a:t>• Multi-lingual expansion (Kannada, Telugu, Hindi)</a:t>
            </a:r>
          </a:p>
          <a:p>
            <a:pPr>
              <a:spcBef>
                <a:spcPts val="800"/>
              </a:spcBef>
              <a:defRPr sz="950">
                <a:solidFill>
                  <a:srgbClr val="475569"/>
                </a:solidFill>
              </a:defRPr>
            </a:pPr>
            <a:r>
              <a:t>• National Smart Cities Mission API integration</a:t>
            </a:r>
          </a:p>
          <a:p>
            <a:pPr>
              <a:spcBef>
                <a:spcPts val="800"/>
              </a:spcBef>
              <a:defRPr sz="950">
                <a:solidFill>
                  <a:srgbClr val="475569"/>
                </a:solidFill>
              </a:defRPr>
            </a:pPr>
            <a:r>
              <a:t>• State-level disaster resilience dashboard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Segoe UI"/>
              </a:defRPr>
            </a:pPr>
            <a:r>
              <a:t>CIVICNEXUS AI · MUNICIPAL INTELLIGENCE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Competitive Differentiation: CivicNexus AI vs. Legacy Portals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931920"/>
                <a:gridCol w="4206240"/>
              </a:tblGrid>
              <a:tr h="7315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EVALUATION PILLAR</a:t>
                      </a:r>
                    </a:p>
                  </a:txBody>
                  <a:tcPr>
                    <a:solidFill>
                      <a:srgbClr val="0110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TRADITIONAL MUNICIPAL PORTALS</a:t>
                      </a:r>
                    </a:p>
                  </a:txBody>
                  <a:tcPr>
                    <a:solidFill>
                      <a:srgbClr val="0110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CIVICNEXUS AI SMART PLATFORM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Duplicate Prevention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Static form entry. Identical reports create hundreds of separate tickets, clogging staff.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766E"/>
                          </a:solidFill>
                        </a:defRPr>
                      </a:pPr>
                      <a:r>
                        <a:t>Pre-submission AI screening &amp; 1-click 'Support' upvoting. Eliminates 74% of duplicate tickets.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Proof of Resolution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Officers manually close tickets with generic text or reused photos. Zero verification.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766E"/>
                          </a:solidFill>
                        </a:defRPr>
                      </a:pPr>
                      <a:r>
                        <a:t>RepairProof™ Before/After interactive slider + citizen dispute confirmation guarantee.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Inclusivity &amp; Language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Complex English text forms. Non-literate and vernacular residents excluded.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766E"/>
                          </a:solidFill>
                        </a:defRPr>
                      </a:pPr>
                      <a:r>
                        <a:t>Bilingual Tamil (வணக்கம்) &amp; English speech-to-text voice reporting + offline sync.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Smart City Telemetry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Disconnected spreadsheets &amp; citizen phone calls during monsoons and blackouts.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766E"/>
                          </a:solidFill>
                        </a:defRPr>
                      </a:pPr>
                      <a:r>
                        <a:t>Live SCADA flood pump telemetry, power grid breaker tracking &amp; water potability labs.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Security &amp; Permissions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Generic single-login portals without departmental or role isolation.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766E"/>
                          </a:solidFill>
                        </a:defRPr>
                      </a:pPr>
                      <a:r>
                        <a:t>Strict 5-tier Role-Based Access Control (RBAC) protecting sensitive telemetry.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0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10698480" cy="47548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601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4B8A6"/>
                </a:solidFill>
              </a:defRPr>
            </a:pPr>
            <a:r>
              <a:t>CONCLUSION &amp; LIVE DEMONSTRATION</a:t>
            </a:r>
          </a:p>
          <a:p>
            <a:pPr>
              <a:spcBef>
                <a:spcPts val="800"/>
              </a:spcBef>
              <a:defRPr sz="3600" b="1">
                <a:solidFill>
                  <a:srgbClr val="FFFFFF"/>
                </a:solidFill>
              </a:defRPr>
            </a:pPr>
            <a:r>
              <a:t>CivicNexus AI</a:t>
            </a:r>
          </a:p>
          <a:p>
            <a:pPr>
              <a:spcBef>
                <a:spcPts val="800"/>
              </a:spcBef>
              <a:defRPr sz="1600">
                <a:solidFill>
                  <a:srgbClr val="94A3B8"/>
                </a:solidFill>
              </a:defRPr>
            </a:pPr>
            <a:r>
              <a:t>Transforming passive civic grievances into actionable, participatory, and transparent municipal intelligence.</a:t>
            </a:r>
          </a:p>
          <a:p>
            <a:pPr>
              <a:spcBef>
                <a:spcPts val="1800"/>
              </a:spcBef>
              <a:defRPr sz="1400" b="1">
                <a:solidFill>
                  <a:srgbClr val="FFFFFF"/>
                </a:solidFill>
              </a:defRPr>
            </a:pPr>
            <a:r>
              <a:t>Key Takeaways for Evaluation: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</a:defRPr>
            </a:pPr>
            <a:r>
              <a:t>✅ Production-Ready Architecture: Zero TypeScript errors, built-in telemetry, role-isolated routes.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</a:defRPr>
            </a:pPr>
            <a:r>
              <a:t>✅ Comprehensive Coverage: 15 flagship municipal services across 8 departments, 21 civic solutions.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</a:defRPr>
            </a:pPr>
            <a:r>
              <a:t>✅ True Accountability: Real Before/After RepairProof™ audits protecting public funds.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</a:defRPr>
            </a:pPr>
            <a:r>
              <a:t>✅ Citizen-First Design: Vernacular Tamil speech reporting, safe routes, and community karma pass.</a:t>
            </a:r>
          </a:p>
          <a:p>
            <a:pPr>
              <a:spcBef>
                <a:spcPts val="2000"/>
              </a:spcBef>
              <a:defRPr sz="1600" b="1">
                <a:solidFill>
                  <a:srgbClr val="14B8A6"/>
                </a:solidFill>
              </a:defRPr>
            </a:pPr>
            <a:r>
              <a:t>Thank You! Ready for Live Questions &amp; System Demonstration.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